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4376" y="-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5599F"/>
                </a:solidFill>
                <a:latin typeface="Pretendard"/>
                <a:cs typeface="Pretendar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431999" y="0"/>
            <a:ext cx="6696075" cy="1722120"/>
          </a:xfrm>
          <a:custGeom>
            <a:avLst/>
            <a:gdLst/>
            <a:ahLst/>
            <a:cxnLst/>
            <a:rect l="l" t="t" r="r" b="b"/>
            <a:pathLst>
              <a:path w="6696075" h="1722120">
                <a:moveTo>
                  <a:pt x="6695998" y="0"/>
                </a:moveTo>
                <a:lnTo>
                  <a:pt x="0" y="0"/>
                </a:lnTo>
                <a:lnTo>
                  <a:pt x="0" y="1614002"/>
                </a:lnTo>
                <a:lnTo>
                  <a:pt x="8486" y="1656043"/>
                </a:lnTo>
                <a:lnTo>
                  <a:pt x="31630" y="1690372"/>
                </a:lnTo>
                <a:lnTo>
                  <a:pt x="65960" y="1713516"/>
                </a:lnTo>
                <a:lnTo>
                  <a:pt x="108000" y="1722003"/>
                </a:lnTo>
                <a:lnTo>
                  <a:pt x="6587997" y="1722003"/>
                </a:lnTo>
                <a:lnTo>
                  <a:pt x="6630038" y="1713516"/>
                </a:lnTo>
                <a:lnTo>
                  <a:pt x="6664367" y="1690372"/>
                </a:lnTo>
                <a:lnTo>
                  <a:pt x="6687512" y="1656043"/>
                </a:lnTo>
                <a:lnTo>
                  <a:pt x="6695998" y="1614002"/>
                </a:lnTo>
                <a:lnTo>
                  <a:pt x="6695998" y="0"/>
                </a:lnTo>
                <a:close/>
              </a:path>
            </a:pathLst>
          </a:custGeom>
          <a:solidFill>
            <a:srgbClr val="F5F3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5599F"/>
                </a:solidFill>
                <a:latin typeface="Pretendard"/>
                <a:cs typeface="Pretendar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5599F"/>
                </a:solidFill>
                <a:latin typeface="Pretendard"/>
                <a:cs typeface="Pretendar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5599F"/>
                </a:solidFill>
                <a:latin typeface="Pretendard"/>
                <a:cs typeface="Pretendar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9300" y="395118"/>
            <a:ext cx="4172585" cy="421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5599F"/>
                </a:solidFill>
                <a:latin typeface="Pretendard"/>
                <a:cs typeface="Pretendar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hyperlink" Target="https://vimeo.com/976061362?fl=pl&amp;fe=cm" TargetMode="External"/><Relationship Id="rId9" Type="http://schemas.openxmlformats.org/officeDocument/2006/relationships/hyperlink" Target="https://vimeo.com/1122151053?fl=pl&amp;fe=cm" TargetMode="External"/><Relationship Id="rId10" Type="http://schemas.openxmlformats.org/officeDocument/2006/relationships/image" Target="../media/image7.png"/><Relationship Id="rId11" Type="http://schemas.openxmlformats.org/officeDocument/2006/relationships/image" Target="../media/image8.png"/><Relationship Id="rId12" Type="http://schemas.openxmlformats.org/officeDocument/2006/relationships/image" Target="../media/image9.png"/><Relationship Id="rId13" Type="http://schemas.openxmlformats.org/officeDocument/2006/relationships/hyperlink" Target="https://vimeo.com/1150567982?fl=pl&amp;fe=cm" TargetMode="External"/><Relationship Id="rId14" Type="http://schemas.openxmlformats.org/officeDocument/2006/relationships/hyperlink" Target="https://rgbcom.co.kr/new/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err="1" smtClean="0"/>
              <a:t>지역사업</a:t>
            </a:r>
            <a:r>
              <a:rPr lang="en-US" dirty="0" smtClean="0"/>
              <a:t> </a:t>
            </a:r>
            <a:r>
              <a:rPr dirty="0" err="1" smtClean="0"/>
              <a:t>협력기관</a:t>
            </a:r>
            <a:r>
              <a:rPr lang="en-US" dirty="0" smtClean="0"/>
              <a:t> </a:t>
            </a:r>
            <a:r>
              <a:rPr dirty="0" err="1" smtClean="0"/>
              <a:t>수행계획서</a:t>
            </a:r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419299" y="2109375"/>
            <a:ext cx="5721151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dirty="0" err="1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해당</a:t>
            </a:r>
            <a:r>
              <a:rPr lang="en-US"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 err="1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사업에서</a:t>
            </a:r>
            <a:r>
              <a:rPr lang="en-US"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(</a:t>
            </a:r>
            <a:r>
              <a:rPr sz="1300" b="1" dirty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책임)</a:t>
            </a:r>
            <a:r>
              <a:rPr sz="1300" b="1" dirty="0" err="1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연구원이</a:t>
            </a:r>
            <a:r>
              <a:rPr lang="en-US"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 err="1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파악한</a:t>
            </a:r>
            <a:r>
              <a:rPr lang="en-US"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 err="1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기업의</a:t>
            </a:r>
            <a:r>
              <a:rPr lang="en-US"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NEEDS</a:t>
            </a:r>
            <a:r>
              <a:rPr lang="en-US"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및</a:t>
            </a:r>
            <a:r>
              <a:rPr lang="en-US"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 err="1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이에</a:t>
            </a:r>
            <a:r>
              <a:rPr lang="en-US"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 err="1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대한</a:t>
            </a:r>
            <a:r>
              <a:rPr lang="en-US"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 err="1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해결</a:t>
            </a:r>
            <a:r>
              <a:rPr lang="en-US" sz="1300" b="1" dirty="0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 err="1" smtClean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방안</a:t>
            </a:r>
            <a:endParaRPr sz="1300" dirty="0"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4401" y="1140930"/>
            <a:ext cx="637540" cy="162224"/>
          </a:xfrm>
          <a:prstGeom prst="rect">
            <a:avLst/>
          </a:prstGeom>
          <a:solidFill>
            <a:srgbClr val="97A4B6"/>
          </a:solidFill>
        </p:spPr>
        <p:txBody>
          <a:bodyPr vert="horz" wrap="square" lIns="0" tIns="8255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65"/>
              </a:spcBef>
            </a:pPr>
            <a:r>
              <a:rPr sz="1000" b="1" dirty="0">
                <a:latin typeface="Pretendard"/>
                <a:cs typeface="Pretendard"/>
              </a:rPr>
              <a:t>협력기관명</a:t>
            </a:r>
            <a:endParaRPr sz="1000">
              <a:latin typeface="Pretendard"/>
              <a:cs typeface="Pretendard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34401" y="1360525"/>
            <a:ext cx="637540" cy="159018"/>
          </a:xfrm>
          <a:prstGeom prst="rect">
            <a:avLst/>
          </a:prstGeom>
          <a:solidFill>
            <a:srgbClr val="97A4B6"/>
          </a:solidFill>
        </p:spPr>
        <p:txBody>
          <a:bodyPr vert="horz" wrap="square" lIns="0" tIns="5080" rIns="0" bIns="0" rtlCol="0">
            <a:spAutoFit/>
          </a:bodyPr>
          <a:lstStyle/>
          <a:p>
            <a:pPr marL="50165">
              <a:lnSpc>
                <a:spcPct val="100000"/>
              </a:lnSpc>
              <a:spcBef>
                <a:spcPts val="40"/>
              </a:spcBef>
            </a:pPr>
            <a:r>
              <a:rPr sz="1000" b="1" dirty="0">
                <a:latin typeface="Pretendard"/>
                <a:cs typeface="Pretendard"/>
              </a:rPr>
              <a:t>책임연구원</a:t>
            </a:r>
            <a:endParaRPr sz="1000">
              <a:latin typeface="Pretendard"/>
              <a:cs typeface="Pretendard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319799" y="1096480"/>
            <a:ext cx="1225550" cy="457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7314">
              <a:lnSpc>
                <a:spcPct val="141700"/>
              </a:lnSpc>
              <a:spcBef>
                <a:spcPts val="100"/>
              </a:spcBef>
            </a:pPr>
            <a:r>
              <a:rPr sz="1000" dirty="0">
                <a:latin typeface="Pretendard"/>
                <a:cs typeface="Pretendard"/>
              </a:rPr>
              <a:t>{{협력기관명}}</a:t>
            </a:r>
          </a:p>
          <a:p>
            <a:pPr marL="12700" marR="107314">
              <a:lnSpc>
                <a:spcPct val="141700"/>
              </a:lnSpc>
              <a:spcBef>
                <a:spcPts val="100"/>
              </a:spcBef>
            </a:pPr>
            <a:r>
              <a:rPr sz="1000" dirty="0">
                <a:latin typeface="Pretendard"/>
                <a:cs typeface="Pretendard"/>
              </a:rPr>
              <a:t>{{책임연구원_성명_직책}}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3697198" y="1140930"/>
            <a:ext cx="594360" cy="162224"/>
          </a:xfrm>
          <a:prstGeom prst="rect">
            <a:avLst/>
          </a:prstGeom>
          <a:solidFill>
            <a:srgbClr val="97A4B6"/>
          </a:solidFill>
        </p:spPr>
        <p:txBody>
          <a:bodyPr vert="horz" wrap="square" lIns="0" tIns="825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65"/>
              </a:spcBef>
            </a:pPr>
            <a:r>
              <a:rPr sz="1000" b="1" dirty="0">
                <a:latin typeface="Pretendard"/>
                <a:cs typeface="Pretendard"/>
              </a:rPr>
              <a:t>전문분야</a:t>
            </a:r>
            <a:endParaRPr sz="1000">
              <a:latin typeface="Pretendard"/>
              <a:cs typeface="Pretendard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697198" y="1360525"/>
            <a:ext cx="594360" cy="159018"/>
          </a:xfrm>
          <a:prstGeom prst="rect">
            <a:avLst/>
          </a:prstGeom>
          <a:solidFill>
            <a:srgbClr val="97A4B6"/>
          </a:solidFill>
        </p:spPr>
        <p:txBody>
          <a:bodyPr vert="horz" wrap="square" lIns="0" tIns="5080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40"/>
              </a:spcBef>
            </a:pPr>
            <a:r>
              <a:rPr sz="1000" b="1" dirty="0">
                <a:latin typeface="Pretendard"/>
                <a:cs typeface="Pretendard"/>
              </a:rPr>
              <a:t>연구원</a:t>
            </a:r>
            <a:endParaRPr sz="1000">
              <a:latin typeface="Pretendard"/>
              <a:cs typeface="Pretendard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321446" y="1089201"/>
            <a:ext cx="2039620" cy="4626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 marR="107314" indent="-7620">
              <a:lnSpc>
                <a:spcPct val="141700"/>
              </a:lnSpc>
              <a:spcBef>
                <a:spcPts val="100"/>
              </a:spcBef>
            </a:pPr>
            <a:r>
              <a:rPr sz="1000" dirty="0" err="1">
                <a:latin typeface="Pretendard"/>
                <a:cs typeface="Pretendard"/>
              </a:rPr>
              <a:t>멀티미디어디자인</a:t>
            </a:r>
            <a:r>
              <a:rPr sz="1000" dirty="0">
                <a:latin typeface="Pretendard"/>
                <a:cs typeface="Pretendard"/>
              </a:rPr>
              <a:t> </a:t>
            </a:r>
            <a:endParaRPr lang="en-US" sz="1000" dirty="0" smtClean="0">
              <a:latin typeface="Pretendard"/>
              <a:cs typeface="Pretendard"/>
            </a:endParaRPr>
          </a:p>
          <a:p>
            <a:pPr marL="19685" marR="107314" indent="-7620">
              <a:lnSpc>
                <a:spcPct val="141700"/>
              </a:lnSpc>
              <a:spcBef>
                <a:spcPts val="100"/>
              </a:spcBef>
            </a:pPr>
            <a:r>
              <a:rPr sz="1000" dirty="0" err="1" smtClean="0">
                <a:latin typeface="Pretendard"/>
                <a:cs typeface="Pretendard"/>
              </a:rPr>
              <a:t>손흥욱</a:t>
            </a:r>
            <a:r>
              <a:rPr sz="1000" dirty="0" smtClean="0">
                <a:latin typeface="Pretendard"/>
                <a:cs typeface="Pretendard"/>
              </a:rPr>
              <a:t>,</a:t>
            </a:r>
            <a:r>
              <a:rPr lang="ko-KR" altLang="en-US" sz="1000" dirty="0" err="1" smtClean="0">
                <a:latin typeface="Pretendard"/>
                <a:cs typeface="Pretendard"/>
              </a:rPr>
              <a:t>노봉탁</a:t>
            </a:r>
            <a:r>
              <a:rPr lang="en-US" altLang="ko-KR" sz="1000" dirty="0" smtClean="0">
                <a:latin typeface="Pretendard"/>
                <a:cs typeface="Pretendard"/>
              </a:rPr>
              <a:t>,</a:t>
            </a:r>
            <a:r>
              <a:rPr lang="ko-KR" altLang="en-US" sz="1000" dirty="0" err="1" smtClean="0">
                <a:latin typeface="Pretendard"/>
                <a:cs typeface="Pretendard"/>
              </a:rPr>
              <a:t>김민종</a:t>
            </a:r>
            <a:r>
              <a:rPr lang="en-US" altLang="ko-KR" sz="1000" dirty="0" smtClean="0">
                <a:latin typeface="Pretendard"/>
                <a:cs typeface="Pretendard"/>
              </a:rPr>
              <a:t>,</a:t>
            </a:r>
            <a:r>
              <a:rPr lang="ko-KR" altLang="en-US" sz="1000" dirty="0" err="1" smtClean="0">
                <a:latin typeface="Pretendard"/>
                <a:cs typeface="Pretendard"/>
              </a:rPr>
              <a:t>김서아</a:t>
            </a:r>
            <a:r>
              <a:rPr lang="en-US" altLang="ko-KR" sz="1000" dirty="0" smtClean="0">
                <a:latin typeface="Pretendard"/>
                <a:cs typeface="Pretendard"/>
              </a:rPr>
              <a:t>,</a:t>
            </a:r>
            <a:r>
              <a:rPr lang="ko-KR" altLang="en-US" sz="1000" dirty="0" err="1" smtClean="0">
                <a:latin typeface="Pretendard"/>
                <a:cs typeface="Pretendard"/>
              </a:rPr>
              <a:t>임유리</a:t>
            </a:r>
            <a:endParaRPr sz="1000" dirty="0">
              <a:latin typeface="Pretendard"/>
              <a:cs typeface="Pretendard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31999" y="2026170"/>
            <a:ext cx="6696075" cy="0"/>
          </a:xfrm>
          <a:custGeom>
            <a:avLst/>
            <a:gdLst/>
            <a:ahLst/>
            <a:cxnLst/>
            <a:rect l="l" t="t" r="r" b="b"/>
            <a:pathLst>
              <a:path w="6696075">
                <a:moveTo>
                  <a:pt x="0" y="0"/>
                </a:moveTo>
                <a:lnTo>
                  <a:pt x="6695998" y="0"/>
                </a:lnTo>
              </a:path>
            </a:pathLst>
          </a:custGeom>
          <a:ln w="38100">
            <a:solidFill>
              <a:srgbClr val="DCDD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37078" y="2451100"/>
            <a:ext cx="1301551" cy="23019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30000"/>
              </a:lnSpc>
              <a:spcBef>
                <a:spcPts val="250"/>
              </a:spcBef>
            </a:pPr>
            <a:r>
              <a:rPr sz="12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1. </a:t>
            </a:r>
            <a:r>
              <a:rPr sz="12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고객</a:t>
            </a:r>
            <a:r>
              <a:rPr lang="en-US" sz="12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sz="12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니즈</a:t>
            </a:r>
            <a:r>
              <a:rPr lang="en-US" sz="12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sz="12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도출</a:t>
            </a:r>
            <a:endParaRPr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17005" y="2374900"/>
            <a:ext cx="5238551" cy="1146211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err="1" smtClean="0">
                <a:latin typeface="Pretendard Light"/>
                <a:cs typeface="Pretendard Light"/>
              </a:rPr>
              <a:t>나노버블의</a:t>
            </a:r>
            <a:r>
              <a:rPr lang="ko-KR" altLang="en-US" sz="1200" dirty="0" smtClean="0">
                <a:latin typeface="Pretendard Light"/>
                <a:cs typeface="Pretendard Light"/>
              </a:rPr>
              <a:t> 생성 원리와 유체역학적 내부 구조를 </a:t>
            </a:r>
            <a:r>
              <a:rPr lang="en-US" altLang="ko-KR" sz="1200" dirty="0" smtClean="0">
                <a:latin typeface="Pretendard Light"/>
                <a:cs typeface="Pretendard Light"/>
              </a:rPr>
              <a:t>3D </a:t>
            </a:r>
            <a:r>
              <a:rPr lang="ko-KR" altLang="en-US" sz="1200" dirty="0" smtClean="0">
                <a:latin typeface="Pretendard Light"/>
                <a:cs typeface="Pretendard Light"/>
              </a:rPr>
              <a:t>그래픽 등으로 직관적으로 시각화</a:t>
            </a:r>
            <a:endParaRPr lang="en-US" altLang="ko-KR" sz="1200" dirty="0" smtClean="0">
              <a:latin typeface="Pretendard Light"/>
              <a:cs typeface="Pretendard Light"/>
            </a:endParaRPr>
          </a:p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smtClean="0">
                <a:latin typeface="Pretendard Light"/>
                <a:cs typeface="Pretendard Light"/>
              </a:rPr>
              <a:t>구조적 우수성과 기능적 메커니즘을 과학적으로 증명하여 고객의 신뢰 향상</a:t>
            </a:r>
            <a:endParaRPr lang="en-US" altLang="ko-KR" sz="1200" dirty="0" smtClean="0">
              <a:latin typeface="Pretendard Light"/>
              <a:cs typeface="Pretendard Light"/>
            </a:endParaRPr>
          </a:p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smtClean="0">
                <a:latin typeface="Pretendard Light"/>
                <a:cs typeface="Pretendard Light"/>
              </a:rPr>
              <a:t>기술력을 단시간에 효과적으로 어필할 수 있는 전문 비즈니스 </a:t>
            </a:r>
            <a:r>
              <a:rPr lang="ko-KR" altLang="en-US" sz="1200" dirty="0" err="1" smtClean="0">
                <a:latin typeface="Pretendard Light"/>
                <a:cs typeface="Pretendard Light"/>
              </a:rPr>
              <a:t>콘텐츠</a:t>
            </a:r>
            <a:r>
              <a:rPr lang="ko-KR" altLang="en-US" sz="1200" dirty="0" smtClean="0">
                <a:latin typeface="Pretendard Light"/>
                <a:cs typeface="Pretendard Light"/>
              </a:rPr>
              <a:t> 확보</a:t>
            </a:r>
            <a:endParaRPr lang="en-US" altLang="ko-KR" sz="1200" dirty="0" smtClean="0">
              <a:latin typeface="Pretendard Light"/>
              <a:cs typeface="Pretendard Light"/>
            </a:endParaRPr>
          </a:p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smtClean="0">
                <a:latin typeface="Pretendard Light"/>
                <a:cs typeface="Pretendard Light"/>
              </a:rPr>
              <a:t>프리미엄 제품으로서의 가치를 전달할 수 있는 홍보 영상 필요</a:t>
            </a:r>
            <a:endParaRPr sz="1200" dirty="0">
              <a:latin typeface="Pretendard Light"/>
              <a:cs typeface="Pretendard Ligh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37078" y="3673601"/>
            <a:ext cx="1010919" cy="2389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30000"/>
              </a:lnSpc>
              <a:spcBef>
                <a:spcPts val="250"/>
              </a:spcBef>
            </a:pPr>
            <a:r>
              <a:rPr sz="12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2.</a:t>
            </a:r>
            <a:r>
              <a:rPr lang="en-US" sz="12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sz="12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서비스</a:t>
            </a:r>
            <a:r>
              <a:rPr lang="en-US" sz="12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sz="12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내용</a:t>
            </a:r>
            <a:endParaRPr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37078" y="4999553"/>
            <a:ext cx="97536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3.</a:t>
            </a:r>
            <a:r>
              <a:rPr lang="en-US" sz="12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sz="12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포트폴리오</a:t>
            </a:r>
            <a:endParaRPr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pic>
        <p:nvPicPr>
          <p:cNvPr id="17" name="object 17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996" y="5621998"/>
            <a:ext cx="2099498" cy="1180967"/>
          </a:xfrm>
          <a:prstGeom prst="roundRect">
            <a:avLst>
              <a:gd name="adj" fmla="val 6470"/>
            </a:avLst>
          </a:prstGeom>
          <a:ln w="3175">
            <a:solidFill>
              <a:srgbClr val="898989"/>
            </a:solidFill>
          </a:ln>
        </p:spPr>
      </p:pic>
      <p:pic>
        <p:nvPicPr>
          <p:cNvPr id="20" name="object 20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877" y="9054731"/>
            <a:ext cx="2140458" cy="1204008"/>
          </a:xfrm>
          <a:prstGeom prst="roundRect">
            <a:avLst>
              <a:gd name="adj" fmla="val 6470"/>
            </a:avLst>
          </a:prstGeom>
          <a:ln w="3175">
            <a:solidFill>
              <a:srgbClr val="898989"/>
            </a:solidFill>
          </a:ln>
        </p:spPr>
      </p:pic>
      <p:pic>
        <p:nvPicPr>
          <p:cNvPr id="23" name="object 23"/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778" y="5621998"/>
            <a:ext cx="2140437" cy="1203996"/>
          </a:xfrm>
          <a:prstGeom prst="roundRect">
            <a:avLst>
              <a:gd name="adj" fmla="val 6470"/>
            </a:avLst>
          </a:prstGeom>
          <a:ln w="3175">
            <a:solidFill>
              <a:srgbClr val="898989"/>
            </a:solidFill>
          </a:ln>
        </p:spPr>
      </p:pic>
      <p:pic>
        <p:nvPicPr>
          <p:cNvPr id="26" name="object 26"/>
          <p:cNvPicPr/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9768" y="9054731"/>
            <a:ext cx="2140458" cy="1204008"/>
          </a:xfrm>
          <a:prstGeom prst="roundRect">
            <a:avLst>
              <a:gd name="adj" fmla="val 6470"/>
            </a:avLst>
          </a:prstGeom>
          <a:ln w="3175">
            <a:solidFill>
              <a:srgbClr val="898989"/>
            </a:solidFill>
          </a:ln>
        </p:spPr>
      </p:pic>
      <p:pic>
        <p:nvPicPr>
          <p:cNvPr id="29" name="object 29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676" y="5621998"/>
            <a:ext cx="2140437" cy="1203996"/>
          </a:xfrm>
          <a:prstGeom prst="roundRect">
            <a:avLst>
              <a:gd name="adj" fmla="val 6470"/>
            </a:avLst>
          </a:prstGeom>
          <a:ln w="3175">
            <a:solidFill>
              <a:srgbClr val="898989"/>
            </a:solidFill>
          </a:ln>
        </p:spPr>
      </p:pic>
      <p:pic>
        <p:nvPicPr>
          <p:cNvPr id="32" name="object 32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666" y="9054731"/>
            <a:ext cx="2140458" cy="1204008"/>
          </a:xfrm>
          <a:prstGeom prst="roundRect">
            <a:avLst>
              <a:gd name="adj" fmla="val 6470"/>
            </a:avLst>
          </a:prstGeom>
          <a:ln w="3175">
            <a:solidFill>
              <a:srgbClr val="898989"/>
            </a:solidFill>
          </a:ln>
        </p:spPr>
      </p:pic>
      <p:sp>
        <p:nvSpPr>
          <p:cNvPr id="34" name="object 34"/>
          <p:cNvSpPr txBox="1"/>
          <p:nvPr/>
        </p:nvSpPr>
        <p:spPr>
          <a:xfrm>
            <a:off x="419298" y="5329753"/>
            <a:ext cx="2901751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1000" b="1" dirty="0" smtClean="0">
                <a:solidFill>
                  <a:srgbClr val="15599F"/>
                </a:solidFill>
                <a:latin typeface="Pretendard SemiBold"/>
                <a:cs typeface="Pretendard SemiBold"/>
              </a:rPr>
              <a:t>정수기 필터 기술 소개 영상</a:t>
            </a:r>
            <a:endParaRPr sz="1000" dirty="0">
              <a:latin typeface="Pretendard SemiBold"/>
              <a:cs typeface="Pretendard SemiBold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9298" y="8762436"/>
            <a:ext cx="3872259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ko-KR" altLang="en-US" sz="1000" b="1" dirty="0" err="1" smtClean="0">
                <a:solidFill>
                  <a:srgbClr val="15599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건강기능성</a:t>
            </a:r>
            <a:r>
              <a:rPr lang="ko-KR" altLang="en-US" sz="1000" b="1" dirty="0" smtClean="0">
                <a:solidFill>
                  <a:srgbClr val="15599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음료 </a:t>
            </a:r>
            <a:r>
              <a:rPr lang="ko-KR" altLang="en-US" sz="1000" b="1" dirty="0" err="1" smtClean="0">
                <a:solidFill>
                  <a:srgbClr val="15599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캡슐라인</a:t>
            </a:r>
            <a:r>
              <a:rPr lang="ko-KR" altLang="en-US" sz="1000" b="1" dirty="0" smtClean="0">
                <a:solidFill>
                  <a:srgbClr val="15599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기술 소개 영상</a:t>
            </a:r>
            <a:endParaRPr lang="ko-KR" altLang="en-US" sz="1000" b="1" dirty="0">
              <a:solidFill>
                <a:srgbClr val="15599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16" name="그룹 15"/>
          <p:cNvGrpSpPr/>
          <p:nvPr/>
        </p:nvGrpSpPr>
        <p:grpSpPr>
          <a:xfrm>
            <a:off x="1873250" y="5325000"/>
            <a:ext cx="567173" cy="198120"/>
            <a:chOff x="1562403" y="5325000"/>
            <a:chExt cx="567173" cy="198120"/>
          </a:xfrm>
        </p:grpSpPr>
        <p:sp>
          <p:nvSpPr>
            <p:cNvPr id="36" name="object 36">
              <a:hlinkClick r:id="rId8"/>
            </p:cNvPr>
            <p:cNvSpPr/>
            <p:nvPr/>
          </p:nvSpPr>
          <p:spPr>
            <a:xfrm>
              <a:off x="1562403" y="5325000"/>
              <a:ext cx="565785" cy="198120"/>
            </a:xfrm>
            <a:custGeom>
              <a:avLst/>
              <a:gdLst/>
              <a:ahLst/>
              <a:cxnLst/>
              <a:rect l="l" t="t" r="r" b="b"/>
              <a:pathLst>
                <a:path w="565785" h="198120">
                  <a:moveTo>
                    <a:pt x="466191" y="0"/>
                  </a:moveTo>
                  <a:lnTo>
                    <a:pt x="98996" y="0"/>
                  </a:lnTo>
                  <a:lnTo>
                    <a:pt x="60462" y="7779"/>
                  </a:lnTo>
                  <a:lnTo>
                    <a:pt x="28995" y="28995"/>
                  </a:lnTo>
                  <a:lnTo>
                    <a:pt x="7779" y="60462"/>
                  </a:lnTo>
                  <a:lnTo>
                    <a:pt x="0" y="98996"/>
                  </a:lnTo>
                  <a:lnTo>
                    <a:pt x="7779" y="137537"/>
                  </a:lnTo>
                  <a:lnTo>
                    <a:pt x="28995" y="169008"/>
                  </a:lnTo>
                  <a:lnTo>
                    <a:pt x="60462" y="190225"/>
                  </a:lnTo>
                  <a:lnTo>
                    <a:pt x="98996" y="198005"/>
                  </a:lnTo>
                  <a:lnTo>
                    <a:pt x="466191" y="198005"/>
                  </a:lnTo>
                  <a:lnTo>
                    <a:pt x="504732" y="190225"/>
                  </a:lnTo>
                  <a:lnTo>
                    <a:pt x="536203" y="169008"/>
                  </a:lnTo>
                  <a:lnTo>
                    <a:pt x="557420" y="137537"/>
                  </a:lnTo>
                  <a:lnTo>
                    <a:pt x="565200" y="98996"/>
                  </a:lnTo>
                  <a:lnTo>
                    <a:pt x="557420" y="60462"/>
                  </a:lnTo>
                  <a:lnTo>
                    <a:pt x="536203" y="28995"/>
                  </a:lnTo>
                  <a:lnTo>
                    <a:pt x="504732" y="7779"/>
                  </a:lnTo>
                  <a:lnTo>
                    <a:pt x="466191" y="0"/>
                  </a:lnTo>
                  <a:close/>
                </a:path>
              </a:pathLst>
            </a:custGeom>
            <a:solidFill>
              <a:srgbClr val="E947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 txBox="1"/>
            <p:nvPr/>
          </p:nvSpPr>
          <p:spPr>
            <a:xfrm>
              <a:off x="1645706" y="5347386"/>
              <a:ext cx="483870" cy="14362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850" b="1" dirty="0">
                  <a:solidFill>
                    <a:srgbClr val="FFFFFF"/>
                  </a:solidFill>
                  <a:latin typeface="Pretendard SemiBold"/>
                  <a:cs typeface="Pretendard SemiBold"/>
                  <a:hlinkClick r:id="rId8"/>
                </a:rPr>
                <a:t>바로가기</a:t>
              </a:r>
              <a:endParaRPr sz="850" dirty="0">
                <a:latin typeface="Pretendard SemiBold"/>
                <a:cs typeface="Pretendard SemiBold"/>
              </a:endParaRPr>
            </a:p>
          </p:txBody>
        </p:sp>
      </p:grpSp>
      <p:grpSp>
        <p:nvGrpSpPr>
          <p:cNvPr id="19" name="그룹 18"/>
          <p:cNvGrpSpPr/>
          <p:nvPr/>
        </p:nvGrpSpPr>
        <p:grpSpPr>
          <a:xfrm>
            <a:off x="2515078" y="8757739"/>
            <a:ext cx="567173" cy="198120"/>
            <a:chOff x="1890003" y="8757739"/>
            <a:chExt cx="567173" cy="198120"/>
          </a:xfrm>
        </p:grpSpPr>
        <p:sp>
          <p:nvSpPr>
            <p:cNvPr id="38" name="object 38">
              <a:hlinkClick r:id="rId9"/>
            </p:cNvPr>
            <p:cNvSpPr/>
            <p:nvPr/>
          </p:nvSpPr>
          <p:spPr>
            <a:xfrm>
              <a:off x="1890003" y="8757739"/>
              <a:ext cx="565785" cy="198120"/>
            </a:xfrm>
            <a:custGeom>
              <a:avLst/>
              <a:gdLst/>
              <a:ahLst/>
              <a:cxnLst/>
              <a:rect l="l" t="t" r="r" b="b"/>
              <a:pathLst>
                <a:path w="565785" h="198120">
                  <a:moveTo>
                    <a:pt x="466191" y="0"/>
                  </a:moveTo>
                  <a:lnTo>
                    <a:pt x="98996" y="0"/>
                  </a:lnTo>
                  <a:lnTo>
                    <a:pt x="60462" y="7779"/>
                  </a:lnTo>
                  <a:lnTo>
                    <a:pt x="28995" y="28995"/>
                  </a:lnTo>
                  <a:lnTo>
                    <a:pt x="7779" y="60462"/>
                  </a:lnTo>
                  <a:lnTo>
                    <a:pt x="0" y="98996"/>
                  </a:lnTo>
                  <a:lnTo>
                    <a:pt x="7779" y="137537"/>
                  </a:lnTo>
                  <a:lnTo>
                    <a:pt x="28995" y="169008"/>
                  </a:lnTo>
                  <a:lnTo>
                    <a:pt x="60462" y="190225"/>
                  </a:lnTo>
                  <a:lnTo>
                    <a:pt x="98996" y="198005"/>
                  </a:lnTo>
                  <a:lnTo>
                    <a:pt x="466191" y="198005"/>
                  </a:lnTo>
                  <a:lnTo>
                    <a:pt x="504732" y="190225"/>
                  </a:lnTo>
                  <a:lnTo>
                    <a:pt x="536203" y="169008"/>
                  </a:lnTo>
                  <a:lnTo>
                    <a:pt x="557420" y="137537"/>
                  </a:lnTo>
                  <a:lnTo>
                    <a:pt x="565200" y="98996"/>
                  </a:lnTo>
                  <a:lnTo>
                    <a:pt x="557420" y="60462"/>
                  </a:lnTo>
                  <a:lnTo>
                    <a:pt x="536203" y="28995"/>
                  </a:lnTo>
                  <a:lnTo>
                    <a:pt x="504732" y="7779"/>
                  </a:lnTo>
                  <a:lnTo>
                    <a:pt x="466191" y="0"/>
                  </a:lnTo>
                  <a:close/>
                </a:path>
              </a:pathLst>
            </a:custGeom>
            <a:solidFill>
              <a:srgbClr val="E947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 txBox="1"/>
            <p:nvPr/>
          </p:nvSpPr>
          <p:spPr>
            <a:xfrm>
              <a:off x="1973306" y="8780123"/>
              <a:ext cx="483870" cy="14362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850" b="1" dirty="0">
                  <a:solidFill>
                    <a:srgbClr val="FFFFFF"/>
                  </a:solidFill>
                  <a:latin typeface="Pretendard SemiBold"/>
                  <a:cs typeface="Pretendard SemiBold"/>
                  <a:hlinkClick r:id="rId9"/>
                </a:rPr>
                <a:t>바로가기</a:t>
              </a:r>
              <a:endParaRPr sz="850" dirty="0">
                <a:latin typeface="Pretendard SemiBold"/>
                <a:cs typeface="Pretendard SemiBold"/>
              </a:endParaRPr>
            </a:p>
          </p:txBody>
        </p:sp>
      </p:grpSp>
      <p:pic>
        <p:nvPicPr>
          <p:cNvPr id="41" name="object 41"/>
          <p:cNvPicPr/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155" y="7344003"/>
            <a:ext cx="2140437" cy="1203996"/>
          </a:xfrm>
          <a:prstGeom prst="roundRect">
            <a:avLst>
              <a:gd name="adj" fmla="val 6470"/>
            </a:avLst>
          </a:prstGeom>
          <a:ln w="3175">
            <a:solidFill>
              <a:srgbClr val="898989"/>
            </a:solidFill>
          </a:ln>
        </p:spPr>
      </p:pic>
      <p:pic>
        <p:nvPicPr>
          <p:cNvPr id="44" name="object 44"/>
          <p:cNvPicPr/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1048" y="7344003"/>
            <a:ext cx="2140437" cy="1203996"/>
          </a:xfrm>
          <a:prstGeom prst="roundRect">
            <a:avLst>
              <a:gd name="adj" fmla="val 6470"/>
            </a:avLst>
          </a:prstGeom>
          <a:ln w="3175">
            <a:solidFill>
              <a:srgbClr val="898989"/>
            </a:solidFill>
          </a:ln>
        </p:spPr>
      </p:pic>
      <p:pic>
        <p:nvPicPr>
          <p:cNvPr id="47" name="object 47"/>
          <p:cNvPicPr/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8945" y="7344003"/>
            <a:ext cx="2140437" cy="1203996"/>
          </a:xfrm>
          <a:prstGeom prst="roundRect">
            <a:avLst>
              <a:gd name="adj" fmla="val 6470"/>
            </a:avLst>
          </a:prstGeom>
          <a:ln w="3175">
            <a:solidFill>
              <a:srgbClr val="898989"/>
            </a:solidFill>
          </a:ln>
        </p:spPr>
      </p:pic>
      <p:sp>
        <p:nvSpPr>
          <p:cNvPr id="49" name="object 49"/>
          <p:cNvSpPr txBox="1"/>
          <p:nvPr/>
        </p:nvSpPr>
        <p:spPr>
          <a:xfrm>
            <a:off x="420568" y="7046910"/>
            <a:ext cx="2976682" cy="1667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lang="ko-KR" altLang="en-US" sz="1000" b="1" dirty="0" err="1" smtClean="0">
                <a:solidFill>
                  <a:srgbClr val="15599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수평밀착</a:t>
            </a:r>
            <a:r>
              <a:rPr lang="ko-KR" altLang="en-US" sz="1000" b="1" dirty="0" smtClean="0">
                <a:solidFill>
                  <a:srgbClr val="15599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lang="ko-KR" altLang="en-US" sz="1000" b="1" dirty="0" err="1" smtClean="0">
                <a:solidFill>
                  <a:srgbClr val="15599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시스템창호</a:t>
            </a:r>
            <a:r>
              <a:rPr lang="ko-KR" altLang="en-US" sz="1000" b="1" dirty="0" smtClean="0">
                <a:solidFill>
                  <a:srgbClr val="15599F"/>
                </a:solidFill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기술 소개 영상</a:t>
            </a:r>
            <a:endParaRPr sz="1000" b="1" dirty="0">
              <a:solidFill>
                <a:srgbClr val="15599F"/>
              </a:solidFill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grpSp>
        <p:nvGrpSpPr>
          <p:cNvPr id="18" name="그룹 17"/>
          <p:cNvGrpSpPr/>
          <p:nvPr/>
        </p:nvGrpSpPr>
        <p:grpSpPr>
          <a:xfrm>
            <a:off x="2271941" y="7038002"/>
            <a:ext cx="565785" cy="198120"/>
            <a:chOff x="1846683" y="7038002"/>
            <a:chExt cx="565785" cy="198120"/>
          </a:xfrm>
        </p:grpSpPr>
        <p:sp>
          <p:nvSpPr>
            <p:cNvPr id="50" name="object 50">
              <a:hlinkClick r:id="rId13"/>
            </p:cNvPr>
            <p:cNvSpPr/>
            <p:nvPr/>
          </p:nvSpPr>
          <p:spPr>
            <a:xfrm>
              <a:off x="1846683" y="7038002"/>
              <a:ext cx="565785" cy="198120"/>
            </a:xfrm>
            <a:custGeom>
              <a:avLst/>
              <a:gdLst/>
              <a:ahLst/>
              <a:cxnLst/>
              <a:rect l="l" t="t" r="r" b="b"/>
              <a:pathLst>
                <a:path w="565785" h="198120">
                  <a:moveTo>
                    <a:pt x="466191" y="0"/>
                  </a:moveTo>
                  <a:lnTo>
                    <a:pt x="98996" y="0"/>
                  </a:lnTo>
                  <a:lnTo>
                    <a:pt x="60462" y="7779"/>
                  </a:lnTo>
                  <a:lnTo>
                    <a:pt x="28995" y="28995"/>
                  </a:lnTo>
                  <a:lnTo>
                    <a:pt x="7779" y="60462"/>
                  </a:lnTo>
                  <a:lnTo>
                    <a:pt x="0" y="98996"/>
                  </a:lnTo>
                  <a:lnTo>
                    <a:pt x="7779" y="137537"/>
                  </a:lnTo>
                  <a:lnTo>
                    <a:pt x="28995" y="169008"/>
                  </a:lnTo>
                  <a:lnTo>
                    <a:pt x="60462" y="190225"/>
                  </a:lnTo>
                  <a:lnTo>
                    <a:pt x="98996" y="198005"/>
                  </a:lnTo>
                  <a:lnTo>
                    <a:pt x="466191" y="198005"/>
                  </a:lnTo>
                  <a:lnTo>
                    <a:pt x="504732" y="190225"/>
                  </a:lnTo>
                  <a:lnTo>
                    <a:pt x="536203" y="169008"/>
                  </a:lnTo>
                  <a:lnTo>
                    <a:pt x="557420" y="137537"/>
                  </a:lnTo>
                  <a:lnTo>
                    <a:pt x="565200" y="98996"/>
                  </a:lnTo>
                  <a:lnTo>
                    <a:pt x="557420" y="60462"/>
                  </a:lnTo>
                  <a:lnTo>
                    <a:pt x="536203" y="28995"/>
                  </a:lnTo>
                  <a:lnTo>
                    <a:pt x="504732" y="7779"/>
                  </a:lnTo>
                  <a:lnTo>
                    <a:pt x="466191" y="0"/>
                  </a:lnTo>
                  <a:close/>
                </a:path>
              </a:pathLst>
            </a:custGeom>
            <a:solidFill>
              <a:srgbClr val="E94709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51" name="object 51"/>
            <p:cNvSpPr txBox="1"/>
            <p:nvPr/>
          </p:nvSpPr>
          <p:spPr>
            <a:xfrm>
              <a:off x="1887641" y="7060386"/>
              <a:ext cx="483870" cy="14362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 algn="ctr">
                <a:lnSpc>
                  <a:spcPct val="100000"/>
                </a:lnSpc>
                <a:spcBef>
                  <a:spcPts val="100"/>
                </a:spcBef>
              </a:pPr>
              <a:r>
                <a:rPr sz="850" b="1" dirty="0">
                  <a:solidFill>
                    <a:srgbClr val="FFFFFF"/>
                  </a:solidFill>
                  <a:latin typeface="Pretendard SemiBold"/>
                  <a:cs typeface="Pretendard SemiBold"/>
                  <a:hlinkClick r:id="rId13"/>
                </a:rPr>
                <a:t>바로가기</a:t>
              </a:r>
              <a:endParaRPr sz="850" dirty="0">
                <a:latin typeface="Pretendard SemiBold"/>
                <a:cs typeface="Pretendard SemiBold"/>
              </a:endParaRPr>
            </a:p>
          </p:txBody>
        </p:sp>
      </p:grpSp>
      <p:grpSp>
        <p:nvGrpSpPr>
          <p:cNvPr id="40" name="그룹 39"/>
          <p:cNvGrpSpPr/>
          <p:nvPr/>
        </p:nvGrpSpPr>
        <p:grpSpPr>
          <a:xfrm>
            <a:off x="1408249" y="5005593"/>
            <a:ext cx="567173" cy="198120"/>
            <a:chOff x="1562403" y="5325000"/>
            <a:chExt cx="567173" cy="198120"/>
          </a:xfrm>
        </p:grpSpPr>
        <p:sp>
          <p:nvSpPr>
            <p:cNvPr id="42" name="object 36">
              <a:hlinkClick r:id="rId14"/>
            </p:cNvPr>
            <p:cNvSpPr/>
            <p:nvPr/>
          </p:nvSpPr>
          <p:spPr>
            <a:xfrm>
              <a:off x="1562403" y="5325000"/>
              <a:ext cx="565785" cy="198120"/>
            </a:xfrm>
            <a:custGeom>
              <a:avLst/>
              <a:gdLst/>
              <a:ahLst/>
              <a:cxnLst/>
              <a:rect l="l" t="t" r="r" b="b"/>
              <a:pathLst>
                <a:path w="565785" h="198120">
                  <a:moveTo>
                    <a:pt x="466191" y="0"/>
                  </a:moveTo>
                  <a:lnTo>
                    <a:pt x="98996" y="0"/>
                  </a:lnTo>
                  <a:lnTo>
                    <a:pt x="60462" y="7779"/>
                  </a:lnTo>
                  <a:lnTo>
                    <a:pt x="28995" y="28995"/>
                  </a:lnTo>
                  <a:lnTo>
                    <a:pt x="7779" y="60462"/>
                  </a:lnTo>
                  <a:lnTo>
                    <a:pt x="0" y="98996"/>
                  </a:lnTo>
                  <a:lnTo>
                    <a:pt x="7779" y="137537"/>
                  </a:lnTo>
                  <a:lnTo>
                    <a:pt x="28995" y="169008"/>
                  </a:lnTo>
                  <a:lnTo>
                    <a:pt x="60462" y="190225"/>
                  </a:lnTo>
                  <a:lnTo>
                    <a:pt x="98996" y="198005"/>
                  </a:lnTo>
                  <a:lnTo>
                    <a:pt x="466191" y="198005"/>
                  </a:lnTo>
                  <a:lnTo>
                    <a:pt x="504732" y="190225"/>
                  </a:lnTo>
                  <a:lnTo>
                    <a:pt x="536203" y="169008"/>
                  </a:lnTo>
                  <a:lnTo>
                    <a:pt x="557420" y="137537"/>
                  </a:lnTo>
                  <a:lnTo>
                    <a:pt x="565200" y="98996"/>
                  </a:lnTo>
                  <a:lnTo>
                    <a:pt x="557420" y="60462"/>
                  </a:lnTo>
                  <a:lnTo>
                    <a:pt x="536203" y="28995"/>
                  </a:lnTo>
                  <a:lnTo>
                    <a:pt x="504732" y="7779"/>
                  </a:lnTo>
                  <a:lnTo>
                    <a:pt x="466191" y="0"/>
                  </a:lnTo>
                  <a:close/>
                </a:path>
              </a:pathLst>
            </a:custGeom>
            <a:solidFill>
              <a:srgbClr val="E6001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37"/>
            <p:cNvSpPr txBox="1"/>
            <p:nvPr/>
          </p:nvSpPr>
          <p:spPr>
            <a:xfrm>
              <a:off x="1645706" y="5347386"/>
              <a:ext cx="483870" cy="143629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lang="ko-KR" altLang="en-US" sz="850" b="1" dirty="0" smtClean="0">
                  <a:solidFill>
                    <a:srgbClr val="FFFFFF"/>
                  </a:solidFill>
                  <a:latin typeface="Pretendard SemiBold"/>
                  <a:cs typeface="Pretendard SemiBold"/>
                  <a:hlinkClick r:id="rId14"/>
                </a:rPr>
                <a:t>홈페이</a:t>
              </a:r>
              <a:r>
                <a:rPr lang="ko-KR" altLang="en-US" sz="850" b="1" dirty="0">
                  <a:solidFill>
                    <a:srgbClr val="FFFFFF"/>
                  </a:solidFill>
                  <a:latin typeface="Pretendard SemiBold"/>
                  <a:cs typeface="Pretendard SemiBold"/>
                  <a:hlinkClick r:id="rId14"/>
                </a:rPr>
                <a:t>지</a:t>
              </a:r>
              <a:endParaRPr sz="850" dirty="0">
                <a:latin typeface="Pretendard SemiBold"/>
                <a:cs typeface="Pretendard SemiBold"/>
              </a:endParaRPr>
            </a:p>
          </p:txBody>
        </p:sp>
      </p:grpSp>
      <p:sp>
        <p:nvSpPr>
          <p:cNvPr id="45" name="object 12"/>
          <p:cNvSpPr txBox="1"/>
          <p:nvPr/>
        </p:nvSpPr>
        <p:spPr>
          <a:xfrm>
            <a:off x="1917005" y="3612078"/>
            <a:ext cx="4781351" cy="1386277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en-US" altLang="ko-KR" sz="1200" dirty="0" smtClean="0">
                <a:latin typeface="Pretendard Light"/>
                <a:cs typeface="Pretendard Light"/>
              </a:rPr>
              <a:t>3D </a:t>
            </a:r>
            <a:r>
              <a:rPr lang="ko-KR" altLang="en-US" sz="1200" dirty="0" smtClean="0">
                <a:latin typeface="Pretendard Light"/>
                <a:cs typeface="Pretendard Light"/>
              </a:rPr>
              <a:t>그래픽을 활용해 </a:t>
            </a:r>
            <a:r>
              <a:rPr lang="ko-KR" altLang="en-US" sz="1200" dirty="0" err="1" smtClean="0">
                <a:latin typeface="Pretendard Light"/>
                <a:cs typeface="Pretendard Light"/>
              </a:rPr>
              <a:t>샤워헤드</a:t>
            </a:r>
            <a:r>
              <a:rPr lang="ko-KR" altLang="en-US" sz="1200" dirty="0" smtClean="0">
                <a:latin typeface="Pretendard Light"/>
                <a:cs typeface="Pretendard Light"/>
              </a:rPr>
              <a:t> 내부의 물 흐름이 회전하고 감압되며 </a:t>
            </a:r>
            <a:r>
              <a:rPr lang="ko-KR" altLang="en-US" sz="1200" dirty="0" err="1" smtClean="0">
                <a:latin typeface="Pretendard Light"/>
                <a:cs typeface="Pretendard Light"/>
              </a:rPr>
              <a:t>나노버블이</a:t>
            </a:r>
            <a:r>
              <a:rPr lang="ko-KR" altLang="en-US" sz="1200" dirty="0" smtClean="0">
                <a:latin typeface="Pretendard Light"/>
                <a:cs typeface="Pretendard Light"/>
              </a:rPr>
              <a:t> 생성되는 과정을 투시도로 표현</a:t>
            </a:r>
          </a:p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smtClean="0">
                <a:latin typeface="Pretendard Light"/>
                <a:cs typeface="Pretendard Light"/>
              </a:rPr>
              <a:t>일반 물 </a:t>
            </a:r>
            <a:r>
              <a:rPr lang="en-US" altLang="ko-KR" sz="1200" dirty="0" smtClean="0">
                <a:latin typeface="Pretendard Light"/>
                <a:cs typeface="Pretendard Light"/>
              </a:rPr>
              <a:t>vs </a:t>
            </a:r>
            <a:r>
              <a:rPr lang="ko-KR" altLang="en-US" sz="1200" dirty="0" err="1" smtClean="0">
                <a:latin typeface="Pretendard Light"/>
                <a:cs typeface="Pretendard Light"/>
              </a:rPr>
              <a:t>나노버블</a:t>
            </a:r>
            <a:r>
              <a:rPr lang="ko-KR" altLang="en-US" sz="1200" dirty="0" smtClean="0">
                <a:latin typeface="Pretendard Light"/>
                <a:cs typeface="Pretendard Light"/>
              </a:rPr>
              <a:t> 수의 </a:t>
            </a:r>
            <a:r>
              <a:rPr lang="ko-KR" altLang="en-US" sz="1200" dirty="0" err="1" smtClean="0">
                <a:latin typeface="Pretendard Light"/>
                <a:cs typeface="Pretendard Light"/>
              </a:rPr>
              <a:t>침투력</a:t>
            </a:r>
            <a:r>
              <a:rPr lang="ko-KR" altLang="en-US" sz="1200" dirty="0" smtClean="0">
                <a:latin typeface="Pretendard Light"/>
                <a:cs typeface="Pretendard Light"/>
              </a:rPr>
              <a:t> 비교 실험 영상 삽입</a:t>
            </a:r>
            <a:endParaRPr lang="en-US" altLang="ko-KR" sz="1200" dirty="0" smtClean="0">
              <a:latin typeface="Pretendard Light"/>
              <a:cs typeface="Pretendard Light"/>
            </a:endParaRPr>
          </a:p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smtClean="0">
                <a:latin typeface="Pretendard Light"/>
                <a:cs typeface="Pretendard Light"/>
              </a:rPr>
              <a:t>화학 첨가물 없이 기계적 구조만으로 버블이 생성되는 과정 구현</a:t>
            </a:r>
          </a:p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smtClean="0">
                <a:latin typeface="Pretendard Light"/>
                <a:cs typeface="Pretendard Light"/>
              </a:rPr>
              <a:t>특허 등록증</a:t>
            </a:r>
            <a:r>
              <a:rPr lang="en-US" altLang="ko-KR" sz="1200" dirty="0" smtClean="0">
                <a:latin typeface="Pretendard Light"/>
                <a:cs typeface="Pretendard Light"/>
              </a:rPr>
              <a:t>, </a:t>
            </a:r>
            <a:r>
              <a:rPr lang="ko-KR" altLang="en-US" sz="1200" dirty="0" smtClean="0">
                <a:latin typeface="Pretendard Light"/>
                <a:cs typeface="Pretendard Light"/>
              </a:rPr>
              <a:t>성적서 등을 영상에 배치하여 기술적 신뢰도 완성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7928873" y="4965700"/>
            <a:ext cx="377825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smtClean="0"/>
              <a:t>https://</a:t>
            </a:r>
            <a:r>
              <a:rPr lang="en-US" altLang="ko-KR" dirty="0" err="1" smtClean="0"/>
              <a:t>vimeo.com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976061362?fl</a:t>
            </a:r>
            <a:r>
              <a:rPr lang="en-US" altLang="ko-KR" dirty="0" smtClean="0"/>
              <a:t>=</a:t>
            </a:r>
            <a:r>
              <a:rPr lang="en-US" altLang="ko-KR" dirty="0" err="1" smtClean="0"/>
              <a:t>pl&amp;fe</a:t>
            </a:r>
            <a:r>
              <a:rPr lang="en-US" altLang="ko-KR" dirty="0" smtClean="0"/>
              <a:t>=cm</a:t>
            </a:r>
            <a:endParaRPr lang="ko-KR" altLang="en-US" dirty="0"/>
          </a:p>
        </p:txBody>
      </p:sp>
      <p:sp>
        <p:nvSpPr>
          <p:cNvPr id="24" name="직사각형 23"/>
          <p:cNvSpPr/>
          <p:nvPr/>
        </p:nvSpPr>
        <p:spPr>
          <a:xfrm>
            <a:off x="7904593" y="7060386"/>
            <a:ext cx="377825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smtClean="0"/>
              <a:t>https://</a:t>
            </a:r>
            <a:r>
              <a:rPr lang="en-US" altLang="ko-KR" dirty="0" err="1" smtClean="0"/>
              <a:t>vimeo.com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1150567982?fl</a:t>
            </a:r>
            <a:r>
              <a:rPr lang="en-US" altLang="ko-KR" dirty="0" smtClean="0"/>
              <a:t>=</a:t>
            </a:r>
            <a:r>
              <a:rPr lang="en-US" altLang="ko-KR" dirty="0" err="1" smtClean="0"/>
              <a:t>pl&amp;fe</a:t>
            </a:r>
            <a:r>
              <a:rPr lang="en-US" altLang="ko-KR" dirty="0" smtClean="0"/>
              <a:t>=cm</a:t>
            </a:r>
            <a:endParaRPr lang="ko-KR" altLang="en-US" dirty="0"/>
          </a:p>
        </p:txBody>
      </p:sp>
      <p:sp>
        <p:nvSpPr>
          <p:cNvPr id="25" name="직사각형 24"/>
          <p:cNvSpPr/>
          <p:nvPr/>
        </p:nvSpPr>
        <p:spPr>
          <a:xfrm>
            <a:off x="8274050" y="8600586"/>
            <a:ext cx="377825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dirty="0" smtClean="0"/>
              <a:t>https://</a:t>
            </a:r>
            <a:r>
              <a:rPr lang="en-US" altLang="ko-KR" dirty="0" err="1" smtClean="0"/>
              <a:t>vimeo.com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1122151053?fl</a:t>
            </a:r>
            <a:r>
              <a:rPr lang="en-US" altLang="ko-KR" dirty="0" smtClean="0"/>
              <a:t>=</a:t>
            </a:r>
            <a:r>
              <a:rPr lang="en-US" altLang="ko-KR" dirty="0" err="1" smtClean="0"/>
              <a:t>pl&amp;fe</a:t>
            </a:r>
            <a:r>
              <a:rPr lang="en-US" altLang="ko-KR" dirty="0" smtClean="0"/>
              <a:t>=cm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9299" y="3908300"/>
            <a:ext cx="1974214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300" b="1" dirty="0" err="1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사업수행</a:t>
            </a:r>
            <a:r>
              <a:rPr lang="en-US" sz="1300" b="1" dirty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 err="1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기간</a:t>
            </a:r>
            <a:r>
              <a:rPr sz="1300" b="1" dirty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(</a:t>
            </a:r>
            <a:r>
              <a:rPr sz="1300" b="1" dirty="0" err="1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일정</a:t>
            </a:r>
            <a:r>
              <a:rPr lang="en-US" sz="1300" b="1" dirty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별)</a:t>
            </a:r>
            <a:r>
              <a:rPr lang="en-US" sz="1300" b="1" dirty="0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 </a:t>
            </a:r>
            <a:r>
              <a:rPr sz="1300" b="1" dirty="0" err="1">
                <a:solidFill>
                  <a:srgbClr val="15599F"/>
                </a:solidFill>
                <a:latin typeface="Pretendard" panose="02000803000000020004" pitchFamily="2" charset="-127"/>
                <a:ea typeface="Pretendard" panose="02000803000000020004" pitchFamily="2" charset="-127"/>
                <a:cs typeface="Pretendard" panose="02000803000000020004" pitchFamily="2" charset="-127"/>
              </a:rPr>
              <a:t>계획</a:t>
            </a:r>
            <a:endParaRPr sz="1300" b="1" dirty="0">
              <a:solidFill>
                <a:srgbClr val="15599F"/>
              </a:solidFill>
              <a:latin typeface="Pretendard" panose="02000803000000020004" pitchFamily="2" charset="-127"/>
              <a:ea typeface="Pretendard" panose="02000803000000020004" pitchFamily="2" charset="-127"/>
              <a:cs typeface="Pretendard" panose="02000803000000020004" pitchFamily="2" charset="-127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9299" y="8001152"/>
            <a:ext cx="2402205" cy="2128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b="1" spc="35" dirty="0">
                <a:solidFill>
                  <a:srgbClr val="15599F"/>
                </a:solidFill>
                <a:latin typeface="Pretendard"/>
                <a:cs typeface="Pretendard"/>
              </a:rPr>
              <a:t>(책임)</a:t>
            </a:r>
            <a:r>
              <a:rPr sz="1300" b="1" spc="35" dirty="0" err="1" smtClean="0">
                <a:solidFill>
                  <a:srgbClr val="15599F"/>
                </a:solidFill>
                <a:latin typeface="Pretendard"/>
                <a:cs typeface="Pretendard"/>
              </a:rPr>
              <a:t>연구원의</a:t>
            </a:r>
            <a:r>
              <a:rPr lang="en-US" sz="1300" b="1" spc="35" dirty="0" smtClean="0">
                <a:solidFill>
                  <a:srgbClr val="15599F"/>
                </a:solidFill>
                <a:latin typeface="Pretendard"/>
                <a:cs typeface="Pretendard"/>
              </a:rPr>
              <a:t> </a:t>
            </a:r>
            <a:r>
              <a:rPr sz="1300" b="1" spc="35" dirty="0" err="1" smtClean="0">
                <a:solidFill>
                  <a:srgbClr val="15599F"/>
                </a:solidFill>
                <a:latin typeface="Pretendard"/>
                <a:cs typeface="Pretendard"/>
              </a:rPr>
              <a:t>해당</a:t>
            </a:r>
            <a:r>
              <a:rPr lang="en-US" sz="1300" b="1" spc="35" dirty="0" smtClean="0">
                <a:solidFill>
                  <a:srgbClr val="15599F"/>
                </a:solidFill>
                <a:latin typeface="Pretendard"/>
                <a:cs typeface="Pretendard"/>
              </a:rPr>
              <a:t> </a:t>
            </a:r>
            <a:r>
              <a:rPr sz="1300" b="1" spc="35" dirty="0" err="1" smtClean="0">
                <a:solidFill>
                  <a:srgbClr val="15599F"/>
                </a:solidFill>
                <a:latin typeface="Pretendard"/>
                <a:cs typeface="Pretendard"/>
              </a:rPr>
              <a:t>과제에서</a:t>
            </a:r>
            <a:r>
              <a:rPr lang="en-US" sz="1300" b="1" spc="35" dirty="0" smtClean="0">
                <a:solidFill>
                  <a:srgbClr val="15599F"/>
                </a:solidFill>
                <a:latin typeface="Pretendard"/>
                <a:cs typeface="Pretendard"/>
              </a:rPr>
              <a:t> </a:t>
            </a:r>
            <a:r>
              <a:rPr sz="1300" b="1" spc="35" dirty="0" err="1" smtClean="0">
                <a:solidFill>
                  <a:srgbClr val="15599F"/>
                </a:solidFill>
                <a:latin typeface="Pretendard"/>
                <a:cs typeface="Pretendard"/>
              </a:rPr>
              <a:t>역할</a:t>
            </a:r>
            <a:endParaRPr sz="1300" dirty="0">
              <a:latin typeface="Pretendard"/>
              <a:cs typeface="Pretendard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125" y="1431046"/>
            <a:ext cx="84328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4.</a:t>
            </a:r>
            <a:r>
              <a:rPr lang="en-US" sz="1200" dirty="0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 </a:t>
            </a:r>
            <a:r>
              <a:rPr sz="1200" dirty="0" err="1">
                <a:latin typeface="Pretendard SemiBold" panose="02000703000000020004" pitchFamily="2" charset="-127"/>
                <a:ea typeface="Pretendard SemiBold" panose="02000703000000020004" pitchFamily="2" charset="-127"/>
                <a:cs typeface="Pretendard SemiBold" panose="02000703000000020004" pitchFamily="2" charset="-127"/>
              </a:rPr>
              <a:t>기대효과</a:t>
            </a:r>
            <a:endParaRPr sz="1200" dirty="0">
              <a:latin typeface="Pretendard SemiBold" panose="02000703000000020004" pitchFamily="2" charset="-127"/>
              <a:ea typeface="Pretendard SemiBold" panose="02000703000000020004" pitchFamily="2" charset="-127"/>
              <a:cs typeface="Pretendard SemiBold" panose="02000703000000020004" pitchFamily="2" charset="-127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12108" y="1308100"/>
            <a:ext cx="4995142" cy="248119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smtClean="0">
                <a:latin typeface="Pretendard Light"/>
                <a:cs typeface="Pretendard Light"/>
              </a:rPr>
              <a:t>단순 제조사가 아닌 </a:t>
            </a:r>
            <a:r>
              <a:rPr lang="en-US" altLang="ko-KR" sz="1200" dirty="0" smtClean="0">
                <a:latin typeface="Pretendard Light"/>
                <a:cs typeface="Pretendard Light"/>
              </a:rPr>
              <a:t>'</a:t>
            </a:r>
            <a:r>
              <a:rPr lang="ko-KR" altLang="en-US" sz="1200" dirty="0" smtClean="0">
                <a:latin typeface="Pretendard Light"/>
                <a:cs typeface="Pretendard Light"/>
              </a:rPr>
              <a:t>유체역학 기반 정밀 설계 기술 기업</a:t>
            </a:r>
            <a:r>
              <a:rPr lang="en-US" altLang="ko-KR" sz="1200" dirty="0" smtClean="0">
                <a:latin typeface="Pretendard Light"/>
                <a:cs typeface="Pretendard Light"/>
              </a:rPr>
              <a:t>'</a:t>
            </a:r>
            <a:r>
              <a:rPr lang="ko-KR" altLang="en-US" sz="1200" dirty="0" smtClean="0">
                <a:latin typeface="Pretendard Light"/>
                <a:cs typeface="Pretendard Light"/>
              </a:rPr>
              <a:t>으로 브랜드 이미지 향상</a:t>
            </a:r>
            <a:endParaRPr lang="en-US" altLang="ko-KR" sz="1200" dirty="0" smtClean="0">
              <a:latin typeface="Pretendard Light"/>
              <a:cs typeface="Pretendard Light"/>
            </a:endParaRPr>
          </a:p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smtClean="0">
                <a:latin typeface="Pretendard Light"/>
                <a:cs typeface="Pretendard Light"/>
              </a:rPr>
              <a:t>해외 바이어에게 언어의 장벽을 넘어선 직관적인 기술 설명 가능</a:t>
            </a:r>
          </a:p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err="1" smtClean="0">
                <a:latin typeface="Pretendard Light"/>
                <a:cs typeface="Pretendard Light"/>
              </a:rPr>
              <a:t>기술영업</a:t>
            </a:r>
            <a:r>
              <a:rPr lang="ko-KR" altLang="en-US" sz="1200" dirty="0" smtClean="0">
                <a:latin typeface="Pretendard Light"/>
                <a:cs typeface="Pretendard Light"/>
              </a:rPr>
              <a:t> 비즈니스에 활용함으로써 직원 개인별 영업에 효율성 향상</a:t>
            </a:r>
          </a:p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smtClean="0">
                <a:latin typeface="Pretendard Light"/>
                <a:cs typeface="Pretendard Light"/>
              </a:rPr>
              <a:t>기술의 차별성을 시각적으로 각인시켜 매출 증대</a:t>
            </a:r>
            <a:r>
              <a:rPr lang="en-US" altLang="ko-KR" sz="1200" dirty="0" smtClean="0">
                <a:latin typeface="Pretendard Light"/>
                <a:cs typeface="Pretendard Light"/>
              </a:rPr>
              <a:t>, </a:t>
            </a:r>
            <a:r>
              <a:rPr lang="ko-KR" altLang="en-US" sz="1200" dirty="0" err="1" smtClean="0">
                <a:latin typeface="Pretendard Light"/>
                <a:cs typeface="Pretendard Light"/>
              </a:rPr>
              <a:t>수출기반</a:t>
            </a:r>
            <a:r>
              <a:rPr lang="ko-KR" altLang="en-US" sz="1200" dirty="0" smtClean="0">
                <a:latin typeface="Pretendard Light"/>
                <a:cs typeface="Pretendard Light"/>
              </a:rPr>
              <a:t> 확보 및 고용 창출</a:t>
            </a:r>
          </a:p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smtClean="0">
                <a:latin typeface="Pretendard Light"/>
                <a:cs typeface="Pretendard Light"/>
              </a:rPr>
              <a:t>눈에 보이지 않는 </a:t>
            </a:r>
            <a:r>
              <a:rPr lang="ko-KR" altLang="en-US" sz="1200" dirty="0" err="1" smtClean="0">
                <a:latin typeface="Pretendard Light"/>
                <a:cs typeface="Pretendard Light"/>
              </a:rPr>
              <a:t>나노</a:t>
            </a:r>
            <a:r>
              <a:rPr lang="ko-KR" altLang="en-US" sz="1200" dirty="0" smtClean="0">
                <a:latin typeface="Pretendard Light"/>
                <a:cs typeface="Pretendard Light"/>
              </a:rPr>
              <a:t> 기술을 시각화함으로써 제품 효능에 대한 의구심 해소 및 구매 결정 시간 단축</a:t>
            </a:r>
          </a:p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r>
              <a:rPr lang="ko-KR" altLang="en-US" sz="1200" dirty="0" smtClean="0">
                <a:latin typeface="Pretendard Light"/>
                <a:cs typeface="Pretendard Light"/>
              </a:rPr>
              <a:t>고품질 영상 소스를 </a:t>
            </a:r>
            <a:r>
              <a:rPr lang="ko-KR" altLang="en-US" sz="1200" dirty="0" err="1" smtClean="0">
                <a:latin typeface="Pretendard Light"/>
                <a:cs typeface="Pretendard Light"/>
              </a:rPr>
              <a:t>상세페이지</a:t>
            </a:r>
            <a:r>
              <a:rPr lang="en-US" altLang="ko-KR" sz="1200" dirty="0" smtClean="0">
                <a:latin typeface="Pretendard Light"/>
                <a:cs typeface="Pretendard Light"/>
              </a:rPr>
              <a:t>, </a:t>
            </a:r>
            <a:r>
              <a:rPr lang="en-US" altLang="ko-KR" sz="1200" dirty="0" err="1" smtClean="0">
                <a:latin typeface="Pretendard Light"/>
                <a:cs typeface="Pretendard Light"/>
              </a:rPr>
              <a:t>SNS</a:t>
            </a:r>
            <a:r>
              <a:rPr lang="en-US" altLang="ko-KR" sz="1200" dirty="0" smtClean="0">
                <a:latin typeface="Pretendard Light"/>
                <a:cs typeface="Pretendard Light"/>
              </a:rPr>
              <a:t> </a:t>
            </a:r>
            <a:r>
              <a:rPr lang="ko-KR" altLang="en-US" sz="1200" dirty="0" smtClean="0">
                <a:latin typeface="Pretendard Light"/>
                <a:cs typeface="Pretendard Light"/>
              </a:rPr>
              <a:t>광고</a:t>
            </a:r>
            <a:r>
              <a:rPr lang="en-US" altLang="ko-KR" sz="1200" dirty="0" smtClean="0">
                <a:latin typeface="Pretendard Light"/>
                <a:cs typeface="Pretendard Light"/>
              </a:rPr>
              <a:t>, </a:t>
            </a:r>
            <a:r>
              <a:rPr lang="ko-KR" altLang="en-US" sz="1200" dirty="0" smtClean="0">
                <a:latin typeface="Pretendard Light"/>
                <a:cs typeface="Pretendard Light"/>
              </a:rPr>
              <a:t>전시회 등에 활용하여 </a:t>
            </a:r>
            <a:r>
              <a:rPr lang="ko-KR" altLang="en-US" sz="1200" dirty="0" err="1" smtClean="0">
                <a:latin typeface="Pretendard Light"/>
                <a:cs typeface="Pretendard Light"/>
              </a:rPr>
              <a:t>콘텐츠</a:t>
            </a:r>
            <a:r>
              <a:rPr lang="ko-KR" altLang="en-US" sz="1200" dirty="0" smtClean="0">
                <a:latin typeface="Pretendard Light"/>
                <a:cs typeface="Pretendard Light"/>
              </a:rPr>
              <a:t> 제작 비용 절감 및 홍보 일관성 유지</a:t>
            </a:r>
          </a:p>
          <a:p>
            <a:pPr marL="162560" indent="-124460">
              <a:lnSpc>
                <a:spcPct val="130000"/>
              </a:lnSpc>
              <a:spcBef>
                <a:spcPts val="250"/>
              </a:spcBef>
              <a:buClr>
                <a:srgbClr val="B5B6B6"/>
              </a:buClr>
              <a:buSzPct val="50000"/>
              <a:buFont typeface="THE"/>
              <a:buChar char="●"/>
              <a:tabLst>
                <a:tab pos="162560" algn="l"/>
              </a:tabLst>
            </a:pPr>
            <a:endParaRPr lang="ko-KR" altLang="en-US" sz="1200" dirty="0">
              <a:latin typeface="Pretendard Light"/>
              <a:cs typeface="Pretendard Ligh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32003" y="432003"/>
            <a:ext cx="6696075" cy="720090"/>
          </a:xfrm>
          <a:prstGeom prst="rect">
            <a:avLst/>
          </a:prstGeom>
          <a:solidFill>
            <a:srgbClr val="F5F3EC"/>
          </a:solidFill>
        </p:spPr>
        <p:txBody>
          <a:bodyPr vert="horz" wrap="square" lIns="0" tIns="201295" rIns="0" bIns="0" rtlCol="0">
            <a:noAutofit/>
          </a:bodyPr>
          <a:lstStyle/>
          <a:p>
            <a:pPr marL="299720">
              <a:lnSpc>
                <a:spcPct val="100000"/>
              </a:lnSpc>
              <a:spcBef>
                <a:spcPts val="1585"/>
              </a:spcBef>
            </a:pPr>
            <a:r>
              <a:rPr sz="1850" b="1" spc="65" dirty="0" err="1" smtClean="0">
                <a:solidFill>
                  <a:srgbClr val="898989"/>
                </a:solidFill>
                <a:latin typeface="Pretendard"/>
                <a:cs typeface="Pretendard"/>
              </a:rPr>
              <a:t>지역사업</a:t>
            </a:r>
            <a:r>
              <a:rPr lang="en-US" sz="1850" b="1" spc="65" dirty="0" smtClean="0">
                <a:solidFill>
                  <a:srgbClr val="898989"/>
                </a:solidFill>
                <a:latin typeface="Pretendard"/>
                <a:cs typeface="Pretendard"/>
              </a:rPr>
              <a:t> </a:t>
            </a:r>
            <a:r>
              <a:rPr sz="1850" b="1" spc="65" dirty="0" err="1" smtClean="0">
                <a:solidFill>
                  <a:srgbClr val="898989"/>
                </a:solidFill>
                <a:latin typeface="Pretendard"/>
                <a:cs typeface="Pretendard"/>
              </a:rPr>
              <a:t>협력기관</a:t>
            </a:r>
            <a:r>
              <a:rPr lang="en-US" sz="1850" b="1" spc="65" dirty="0" smtClean="0">
                <a:solidFill>
                  <a:srgbClr val="898989"/>
                </a:solidFill>
                <a:latin typeface="Pretendard"/>
                <a:cs typeface="Pretendard"/>
              </a:rPr>
              <a:t> </a:t>
            </a:r>
            <a:r>
              <a:rPr sz="1850" b="1" spc="65" dirty="0" err="1" smtClean="0">
                <a:solidFill>
                  <a:srgbClr val="898989"/>
                </a:solidFill>
                <a:latin typeface="Pretendard"/>
                <a:cs typeface="Pretendard"/>
              </a:rPr>
              <a:t>수행계획서</a:t>
            </a:r>
            <a:endParaRPr sz="1850" dirty="0">
              <a:latin typeface="Pretendard"/>
              <a:cs typeface="Pretendard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34125" y="3670300"/>
            <a:ext cx="6696075" cy="0"/>
          </a:xfrm>
          <a:custGeom>
            <a:avLst/>
            <a:gdLst/>
            <a:ahLst/>
            <a:cxnLst/>
            <a:rect l="l" t="t" r="r" b="b"/>
            <a:pathLst>
              <a:path w="6696075">
                <a:moveTo>
                  <a:pt x="0" y="0"/>
                </a:moveTo>
                <a:lnTo>
                  <a:pt x="6695998" y="0"/>
                </a:lnTo>
              </a:path>
            </a:pathLst>
          </a:custGeom>
          <a:ln w="38100">
            <a:solidFill>
              <a:srgbClr val="DCDD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31999" y="7826833"/>
            <a:ext cx="6696075" cy="0"/>
          </a:xfrm>
          <a:custGeom>
            <a:avLst/>
            <a:gdLst/>
            <a:ahLst/>
            <a:cxnLst/>
            <a:rect l="l" t="t" r="r" b="b"/>
            <a:pathLst>
              <a:path w="6696075">
                <a:moveTo>
                  <a:pt x="0" y="0"/>
                </a:moveTo>
                <a:lnTo>
                  <a:pt x="6695998" y="0"/>
                </a:lnTo>
              </a:path>
            </a:pathLst>
          </a:custGeom>
          <a:ln w="38100">
            <a:solidFill>
              <a:srgbClr val="DCDDDD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0094485"/>
              </p:ext>
            </p:extLst>
          </p:nvPr>
        </p:nvGraphicFramePr>
        <p:xfrm>
          <a:off x="2213999" y="4356100"/>
          <a:ext cx="4896484" cy="32385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2230"/>
                <a:gridCol w="3564254"/>
              </a:tblGrid>
              <a:tr h="323850">
                <a:tc>
                  <a:txBody>
                    <a:bodyPr/>
                    <a:lstStyle/>
                    <a:p>
                      <a:pPr marL="38481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1" spc="35" dirty="0" err="1" smtClean="0">
                          <a:latin typeface="Pretendard" panose="02000803000000020004" pitchFamily="2" charset="-127"/>
                          <a:ea typeface="Pretendard" panose="02000803000000020004" pitchFamily="2" charset="-127"/>
                          <a:cs typeface="Pretendard" panose="02000803000000020004" pitchFamily="2" charset="-127"/>
                        </a:rPr>
                        <a:t>수행</a:t>
                      </a:r>
                      <a:r>
                        <a:rPr lang="en-US" sz="1200" b="1" spc="35" dirty="0" smtClean="0">
                          <a:latin typeface="Pretendard" panose="02000803000000020004" pitchFamily="2" charset="-127"/>
                          <a:ea typeface="Pretendard" panose="02000803000000020004" pitchFamily="2" charset="-127"/>
                          <a:cs typeface="Pretendard" panose="02000803000000020004" pitchFamily="2" charset="-127"/>
                        </a:rPr>
                        <a:t> </a:t>
                      </a:r>
                      <a:r>
                        <a:rPr sz="1200" b="1" spc="35" dirty="0" err="1" smtClean="0">
                          <a:latin typeface="Pretendard" panose="02000803000000020004" pitchFamily="2" charset="-127"/>
                          <a:ea typeface="Pretendard" panose="02000803000000020004" pitchFamily="2" charset="-127"/>
                          <a:cs typeface="Pretendard" panose="02000803000000020004" pitchFamily="2" charset="-127"/>
                        </a:rPr>
                        <a:t>기간</a:t>
                      </a:r>
                      <a:endParaRPr sz="1200" dirty="0">
                        <a:latin typeface="Pretendard" panose="02000803000000020004" pitchFamily="2" charset="-127"/>
                        <a:ea typeface="Pretendard" panose="02000803000000020004" pitchFamily="2" charset="-127"/>
                        <a:cs typeface="Pretendard" panose="02000803000000020004" pitchFamily="2" charset="-127"/>
                      </a:endParaRPr>
                    </a:p>
                  </a:txBody>
                  <a:tcPr marL="0" marR="0" marT="71120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19050">
                      <a:solidFill>
                        <a:srgbClr val="15599F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1" spc="35" dirty="0" err="1" smtClean="0">
                          <a:latin typeface="Pretendard" panose="02000803000000020004" pitchFamily="2" charset="-127"/>
                          <a:ea typeface="Pretendard" panose="02000803000000020004" pitchFamily="2" charset="-127"/>
                          <a:cs typeface="Pretendard" panose="02000803000000020004" pitchFamily="2" charset="-127"/>
                        </a:rPr>
                        <a:t>세부</a:t>
                      </a:r>
                      <a:r>
                        <a:rPr lang="en-US" sz="1200" b="1" spc="35" dirty="0" smtClean="0">
                          <a:latin typeface="Pretendard" panose="02000803000000020004" pitchFamily="2" charset="-127"/>
                          <a:ea typeface="Pretendard" panose="02000803000000020004" pitchFamily="2" charset="-127"/>
                          <a:cs typeface="Pretendard" panose="02000803000000020004" pitchFamily="2" charset="-127"/>
                        </a:rPr>
                        <a:t> </a:t>
                      </a:r>
                      <a:r>
                        <a:rPr sz="1200" b="1" spc="35" dirty="0" err="1" smtClean="0">
                          <a:latin typeface="Pretendard" panose="02000803000000020004" pitchFamily="2" charset="-127"/>
                          <a:ea typeface="Pretendard" panose="02000803000000020004" pitchFamily="2" charset="-127"/>
                          <a:cs typeface="Pretendard" panose="02000803000000020004" pitchFamily="2" charset="-127"/>
                        </a:rPr>
                        <a:t>내용</a:t>
                      </a:r>
                      <a:endParaRPr sz="1200" dirty="0">
                        <a:latin typeface="Pretendard" panose="02000803000000020004" pitchFamily="2" charset="-127"/>
                        <a:ea typeface="Pretendard" panose="02000803000000020004" pitchFamily="2" charset="-127"/>
                        <a:cs typeface="Pretendard" panose="02000803000000020004" pitchFamily="2" charset="-127"/>
                      </a:endParaRPr>
                    </a:p>
                  </a:txBody>
                  <a:tcPr marL="0" marR="0" marT="71120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19050">
                      <a:solidFill>
                        <a:srgbClr val="15599F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1주</a:t>
                      </a: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고객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니즈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분석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및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도출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en-US"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주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영상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기획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및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스토리보드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제작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/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1차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보고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en-US"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주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 err="1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차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수정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보완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2주</a:t>
                      </a: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3D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모델링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en-US"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주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3D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랜더링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/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2차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보고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1주</a:t>
                      </a: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 err="1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차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수정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보완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en-US"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주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효과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및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2D</a:t>
                      </a:r>
                      <a:r>
                        <a:rPr sz="1200" b="0" spc="0" baseline="0" dirty="0" err="1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그래픽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lang="en-US"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주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편집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/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3차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보고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0" algn="ctr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1주</a:t>
                      </a: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 err="1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3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차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수정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보완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및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최종</a:t>
                      </a:r>
                      <a:r>
                        <a:rPr lang="en-US" sz="1200" b="0" spc="0" baseline="0" dirty="0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solidFill>
                            <a:schemeClr val="tx1"/>
                          </a:solidFill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납품</a:t>
                      </a:r>
                      <a:endParaRPr sz="1200" b="0" spc="0" baseline="0" dirty="0">
                        <a:solidFill>
                          <a:schemeClr val="tx1"/>
                        </a:solidFill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66675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aphicFrame>
        <p:nvGraphicFramePr>
          <p:cNvPr id="10" name="object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531106"/>
              </p:ext>
            </p:extLst>
          </p:nvPr>
        </p:nvGraphicFramePr>
        <p:xfrm>
          <a:off x="2213999" y="8448891"/>
          <a:ext cx="4896484" cy="161925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32230"/>
                <a:gridCol w="3564254"/>
              </a:tblGrid>
              <a:tr h="3238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책임연구원</a:t>
                      </a:r>
                    </a:p>
                  </a:txBody>
                  <a:tcPr marL="0" marR="0" marT="71120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19050">
                      <a:solidFill>
                        <a:srgbClr val="15599F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200" b="0" spc="0" baseline="0" dirty="0" err="1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고객</a:t>
                      </a:r>
                      <a:r>
                        <a:rPr lang="en-US" sz="1200" b="0" spc="0" baseline="0" dirty="0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니즈</a:t>
                      </a:r>
                      <a:r>
                        <a:rPr lang="en-US" sz="1200" b="0" spc="0" baseline="0" dirty="0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분석</a:t>
                      </a:r>
                      <a:r>
                        <a:rPr lang="en-US" sz="1200" b="0" spc="0" baseline="0" dirty="0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및</a:t>
                      </a:r>
                      <a:r>
                        <a:rPr lang="en-US" sz="1200" b="0" spc="0" baseline="0" dirty="0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도출</a:t>
                      </a:r>
                      <a:r>
                        <a:rPr lang="en-US" sz="1200" b="0" spc="0" baseline="0" dirty="0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/</a:t>
                      </a:r>
                      <a:r>
                        <a:rPr lang="en-US" sz="1200" b="0" spc="0" baseline="0" dirty="0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영상</a:t>
                      </a:r>
                      <a:r>
                        <a:rPr lang="en-US" sz="1200" b="0" spc="0" baseline="0" dirty="0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Variable" panose="02000003000000020004" pitchFamily="2" charset="-127"/>
                          <a:ea typeface="Pretendard Variable" panose="02000003000000020004" pitchFamily="2" charset="-127"/>
                          <a:cs typeface="Pretendard Variable" panose="02000003000000020004" pitchFamily="2" charset="-127"/>
                        </a:rPr>
                        <a:t>기획</a:t>
                      </a:r>
                      <a:endParaRPr sz="1200" b="0" spc="0" baseline="0" dirty="0">
                        <a:latin typeface="Pretendard Variable" panose="02000003000000020004" pitchFamily="2" charset="-127"/>
                        <a:ea typeface="Pretendard Variable" panose="02000003000000020004" pitchFamily="2" charset="-127"/>
                        <a:cs typeface="Pretendard Variable" panose="02000003000000020004" pitchFamily="2" charset="-127"/>
                      </a:endParaRPr>
                    </a:p>
                  </a:txBody>
                  <a:tcPr marL="0" marR="0" marT="71120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19050">
                      <a:solidFill>
                        <a:srgbClr val="15599F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b="0" spc="0" baseline="0" dirty="0" err="1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연구원</a:t>
                      </a:r>
                      <a:r>
                        <a:rPr lang="en-US" sz="1200" b="0" spc="0" baseline="0" dirty="0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1</a:t>
                      </a:r>
                      <a:endParaRPr sz="1200" b="0" spc="0" baseline="0" dirty="0"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0" marR="0" marT="67310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고객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니즈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분석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및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도출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영상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기획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및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스토리보드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제작</a:t>
                      </a:r>
                      <a:endParaRPr sz="1200" spc="0" baseline="0" dirty="0"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0" marR="0" marT="66040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b="0" spc="0" baseline="0" dirty="0" err="1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연구원</a:t>
                      </a:r>
                      <a:r>
                        <a:rPr lang="en-US" sz="1200" b="0" spc="0" baseline="0" dirty="0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2</a:t>
                      </a:r>
                      <a:endParaRPr sz="1200" b="0" spc="0" baseline="0" dirty="0"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0" marR="0" marT="67310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3D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모델링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&amp;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랜더링</a:t>
                      </a:r>
                      <a:endParaRPr sz="1200" spc="0" baseline="0" dirty="0"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0" marR="0" marT="66040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b="0" spc="0" baseline="0" dirty="0" err="1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연구원</a:t>
                      </a:r>
                      <a:r>
                        <a:rPr lang="en-US" sz="1200" b="0" spc="0" baseline="0" dirty="0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3</a:t>
                      </a:r>
                      <a:endParaRPr sz="1200" b="0" spc="0" baseline="0" dirty="0"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0" marR="0" marT="67310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3D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모델링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&amp;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랜더링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/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효과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및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편집</a:t>
                      </a:r>
                      <a:endParaRPr sz="1200" spc="0" baseline="0" dirty="0"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0" marR="0" marT="66040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D4CABE"/>
                      </a:solidFill>
                      <a:prstDash val="solid"/>
                    </a:lnB>
                  </a:tcPr>
                </a:tc>
              </a:tr>
              <a:tr h="323850"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b="0" spc="0" baseline="0" dirty="0" err="1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연구원</a:t>
                      </a:r>
                      <a:r>
                        <a:rPr lang="en-US" sz="1200" b="0" spc="0" baseline="0" dirty="0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4,</a:t>
                      </a:r>
                      <a:r>
                        <a:rPr lang="en-US" sz="1200" b="0" spc="0" baseline="0" dirty="0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Variable SemiBold" panose="02000003000000020004" pitchFamily="2" charset="-127"/>
                          <a:ea typeface="Pretendard Variable SemiBold" panose="02000003000000020004" pitchFamily="2" charset="-127"/>
                          <a:cs typeface="Pretendard Variable SemiBold" panose="02000003000000020004" pitchFamily="2" charset="-127"/>
                        </a:rPr>
                        <a:t>5</a:t>
                      </a:r>
                      <a:endParaRPr sz="1200" b="0" spc="0" baseline="0" dirty="0">
                        <a:latin typeface="Pretendard Variable SemiBold" panose="02000003000000020004" pitchFamily="2" charset="-127"/>
                        <a:ea typeface="Pretendard Variable SemiBold" panose="02000003000000020004" pitchFamily="2" charset="-127"/>
                        <a:cs typeface="Pretendard Variable SemiBold" panose="02000003000000020004" pitchFamily="2" charset="-127"/>
                      </a:endParaRPr>
                    </a:p>
                  </a:txBody>
                  <a:tcPr marL="0" marR="0" marT="67310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F5F3EC"/>
                    </a:solidFill>
                  </a:tcPr>
                </a:tc>
                <a:tc>
                  <a:txBody>
                    <a:bodyPr/>
                    <a:lstStyle/>
                    <a:p>
                      <a:pPr marL="21590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3D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&amp;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2D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그래픽</a:t>
                      </a:r>
                      <a:r>
                        <a:rPr lang="en-US" sz="1200" b="0" spc="0" baseline="0" dirty="0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 </a:t>
                      </a:r>
                      <a:r>
                        <a:rPr sz="1200" b="0" spc="0" baseline="0" dirty="0" err="1" smtClean="0">
                          <a:latin typeface="Pretendard Light" panose="02000403000000020004" pitchFamily="2" charset="-127"/>
                          <a:ea typeface="Pretendard Light" panose="02000403000000020004" pitchFamily="2" charset="-127"/>
                          <a:cs typeface="Pretendard Light" panose="02000403000000020004" pitchFamily="2" charset="-127"/>
                        </a:rPr>
                        <a:t>디자인</a:t>
                      </a:r>
                      <a:endParaRPr sz="1200" spc="0" baseline="0" dirty="0">
                        <a:latin typeface="Pretendard Light" panose="02000403000000020004" pitchFamily="2" charset="-127"/>
                        <a:ea typeface="Pretendard Light" panose="02000403000000020004" pitchFamily="2" charset="-127"/>
                        <a:cs typeface="Pretendard Light" panose="02000403000000020004" pitchFamily="2" charset="-127"/>
                      </a:endParaRPr>
                    </a:p>
                  </a:txBody>
                  <a:tcPr marL="0" marR="0" marT="66040" marB="0">
                    <a:lnL w="3175">
                      <a:solidFill>
                        <a:srgbClr val="D4CABE"/>
                      </a:solidFill>
                      <a:prstDash val="solid"/>
                    </a:lnL>
                    <a:lnR w="3175">
                      <a:solidFill>
                        <a:srgbClr val="D4CABE"/>
                      </a:solidFill>
                      <a:prstDash val="solid"/>
                    </a:lnR>
                    <a:lnT w="3175">
                      <a:solidFill>
                        <a:srgbClr val="D4CABE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 dirty="0" err="1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242</TotalTime>
  <Words>370</Words>
  <Application>Microsoft Office PowerPoint</Application>
  <PresentationFormat>사용자 지정</PresentationFormat>
  <Paragraphs>70</Paragraphs>
  <Slides>2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3" baseType="lpstr">
      <vt:lpstr>Office Theme</vt:lpstr>
      <vt:lpstr>지역사업 협력기관 수행계획서</vt:lpstr>
      <vt:lpstr>PowerPoint 프레젠테이션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지역사업협력기관수행계획서</dc:title>
  <dc:creator>rgb</dc:creator>
  <cp:lastModifiedBy>rgb</cp:lastModifiedBy>
  <cp:revision>34</cp:revision>
  <dcterms:created xsi:type="dcterms:W3CDTF">2026-03-12T02:31:04Z</dcterms:created>
  <dcterms:modified xsi:type="dcterms:W3CDTF">2026-04-08T10:52:19Z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2025-05-22T00:00:00Z</vt:filetime>
  </property>
  <property fmtid="{D5CDD505-2E9C-101B-9397-08002B2CF9AE}" pid="3" name="Creator">
    <vt:lpwstr>Adobe InDesign 20.0 (Windows)</vt:lpwstr>
  </property>
  <property fmtid="{D5CDD505-2E9C-101B-9397-08002B2CF9AE}" pid="4" name="LastSaved">
    <vt:filetime>2026-03-12T00:00:00Z</vt:filetime>
  </property>
  <property fmtid="{D5CDD505-2E9C-101B-9397-08002B2CF9AE}" pid="5" name="Producer">
    <vt:lpwstr>Adobe PDF Library 17.0</vt:lpwstr>
  </property>
</Properties>
</file>